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Reserva observada (%)</c:v>
                </c:pt>
              </c:strCache>
            </c:strRef>
          </c:tx>
          <c:spPr>
            <a:solidFill>
              <a:srgbClr val="37C8E8"/>
            </a:solidFill>
            <a:ln w="38100" cap="flat">
              <a:solidFill>
                <a:srgbClr val="37C8E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7C8E8"/>
              </a:solidFill>
              <a:ln w="9525" cap="flat">
                <a:solidFill>
                  <a:srgbClr val="37C8E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C1</c:v>
                  </c:pt>
                  <c:pt idx="1">
                    <c:v>C2</c:v>
                  </c:pt>
                  <c:pt idx="2">
                    <c:v>C3</c:v>
                  </c:pt>
                  <c:pt idx="3">
                    <c:v>C4</c:v>
                  </c:pt>
                  <c:pt idx="4">
                    <c:v>C5</c:v>
                  </c:pt>
                  <c:pt idx="5">
                    <c:v>C6</c:v>
                  </c:pt>
                  <c:pt idx="6">
                    <c:v>C7</c:v>
                  </c:pt>
                  <c:pt idx="7">
                    <c:v>C8</c:v>
                  </c:pt>
                  <c:pt idx="8">
                    <c:v>C9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</c:v>
                </c:pt>
                <c:pt idx="1">
                  <c:v>65</c:v>
                </c:pt>
                <c:pt idx="2">
                  <c:v>52</c:v>
                </c:pt>
                <c:pt idx="3">
                  <c:v>38</c:v>
                </c:pt>
                <c:pt idx="4">
                  <c:v>24</c:v>
                </c:pt>
                <c:pt idx="5">
                  <c:v>12</c:v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Regressao (87.5 - 12.5*ciclo)</c:v>
                </c:pt>
              </c:strCache>
            </c:strRef>
          </c:tx>
          <c:spPr>
            <a:solidFill>
              <a:srgbClr val="F2A93B"/>
            </a:solidFill>
            <a:ln w="38100" cap="flat">
              <a:solidFill>
                <a:srgbClr val="F2A9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2A93B"/>
              </a:solidFill>
              <a:ln w="9525" cap="flat">
                <a:solidFill>
                  <a:srgbClr val="F2A9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C1</c:v>
                  </c:pt>
                  <c:pt idx="1">
                    <c:v>C2</c:v>
                  </c:pt>
                  <c:pt idx="2">
                    <c:v>C3</c:v>
                  </c:pt>
                  <c:pt idx="3">
                    <c:v>C4</c:v>
                  </c:pt>
                  <c:pt idx="4">
                    <c:v>C5</c:v>
                  </c:pt>
                  <c:pt idx="5">
                    <c:v>C6</c:v>
                  </c:pt>
                  <c:pt idx="6">
                    <c:v>C7</c:v>
                  </c:pt>
                  <c:pt idx="7">
                    <c:v>C8</c:v>
                  </c:pt>
                  <c:pt idx="8">
                    <c:v>C9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75</c:v>
                </c:pt>
                <c:pt idx="1">
                  <c:v>62.6</c:v>
                </c:pt>
                <c:pt idx="2">
                  <c:v>50.1</c:v>
                </c:pt>
                <c:pt idx="3">
                  <c:v>37.6</c:v>
                </c:pt>
                <c:pt idx="4">
                  <c:v>25.1</c:v>
                </c:pt>
                <c:pt idx="5">
                  <c:v>12.6</c:v>
                </c:pt>
                <c:pt idx="6">
                  <c:v>0.1</c:v>
                </c:pt>
                <c:pt idx="7">
                  <c:v>-12.4</c:v>
                </c:pt>
                <c:pt idx="8">
                  <c:v>-24.8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C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-30"/>
        </c:scaling>
        <c:delete val="0"/>
        <c:axPos val="l"/>
        <c:majorGridlines>
          <c:spPr>
            <a:ln w="6350" cap="flat">
              <a:solidFill>
                <a:srgbClr val="23467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C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294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9DC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2294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1463040"/>
            <a:ext cx="6858000" cy="6858000"/>
          </a:xfrm>
          <a:prstGeom prst="ellipse">
            <a:avLst/>
          </a:prstGeom>
          <a:ln w="19050">
            <a:solidFill>
              <a:srgbClr val="1C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365760"/>
            <a:ext cx="4754880" cy="4754880"/>
          </a:xfrm>
          <a:prstGeom prst="ellipse">
            <a:avLst/>
          </a:prstGeom>
          <a:ln w="19050">
            <a:solidFill>
              <a:srgbClr val="264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2720" y="914400"/>
            <a:ext cx="457200" cy="457200"/>
          </a:xfrm>
          <a:prstGeom prst="ellipse">
            <a:avLst/>
          </a:prstGeom>
          <a:solidFill>
            <a:srgbClr val="37C8E8"/>
          </a:solidFill>
          <a:ln/>
        </p:spPr>
      </p:sp>
      <p:sp>
        <p:nvSpPr>
          <p:cNvPr id="5" name="Shape 3"/>
          <p:cNvSpPr/>
          <p:nvPr/>
        </p:nvSpPr>
        <p:spPr>
          <a:xfrm>
            <a:off x="9098280" y="-502920"/>
            <a:ext cx="274320" cy="2743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7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SOLUTION 2026  •  INDUSTRIA ESPACIAL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ARES-1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9DC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Habitat Monitoring System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monitoramento de uma missao espacial experimental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462272"/>
            <a:ext cx="54864" cy="1417320"/>
          </a:xfrm>
          <a:prstGeom prst="rect">
            <a:avLst/>
          </a:prstGeom>
          <a:solidFill>
            <a:srgbClr val="37C8E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3484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FIAP — GRUPO 404
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dos Santos Motta · RM570046
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Caetano de Medeiros Bona · RM569262
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Joedson da Silva Souza · RM573981
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Mylena Ramalho da Silva Torquato · RM572383
</a:t>
            </a:r>
            <a:endParaRPr lang="en-US" sz="1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Fabiano de Jesus Appe · RM571067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cientifico em Marte, 6 astronautas, operacao semi-autonoma. A comunicacao com a Terra e intermitente — os sensores sao a unica fonte de decisao.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331720"/>
            <a:ext cx="73152" cy="13716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496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solar danificado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89864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Geracao de energia em queda acentuada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94760" y="233172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94760" y="2331720"/>
            <a:ext cx="73152" cy="137160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24963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Comunicacao offline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023360" y="289864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primario fora do 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886200"/>
            <a:ext cx="73152" cy="1371600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50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Radiacao elevada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77240" y="445312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8,7 mSv/h, acima do limite seguro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94760" y="388620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94760" y="3886200"/>
            <a:ext cx="73152" cy="13716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40507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inconsistente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023360" y="445312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Pressao reporta -999 kPa (impossivel)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60920" y="1143000"/>
            <a:ext cx="4251960" cy="4297680"/>
          </a:xfrm>
          <a:prstGeom prst="roundRect">
            <a:avLst>
              <a:gd name="adj" fmla="val 215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6352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7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FAZ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635240" y="192024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e interpreta a telemetria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inconsistencias nos sensores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o estado: NORMAL / ALERTA / CRITICO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alertas automaticos priorizados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 a reserva de energia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 acoes tecnicas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ARES-1 HMS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 simulados (data/dados.csv)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12294D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7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criticos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(binario 0/1)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3258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12294D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7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33756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258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12294D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7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12648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variaveis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ambientais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15400" y="132588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12294D"/>
          </a:solidFill>
          <a:ln w="12700">
            <a:solidFill>
              <a:srgbClr val="2346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15400" y="1463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7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91540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2A1518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 INTENCIONAL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931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sensor de pressao reporta -999 kPa — fisicamente impossivel. Plantamos esse erro de proposito para provar que o sistema valida faixas fisicas, marca o sensor como nao confiavel e nao deixa o ruido contaminar o diagnostico.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4983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secoes: [MODULOS] · [ENERGIA] · [AMBIENTE] · [EVENTOS]  —  lidas por parser proprio (ignora comentarios e cabecalhos).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ARES-1 HMS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Estruturas de dados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estrutura responde a uma necessidade concreta de acesso ou organizacao.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 temporal da reserva de energia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990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indice + iteracao no forecasting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78308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07992" y="203911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(FIFO)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26280" y="26243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pendentes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26280" y="2990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tratados na ordem de chegada (append/pop(0))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78308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11312" y="203911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8211312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2396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Pilha (LIFO)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262432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criticos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0" y="29900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rapido ao mais recente (append/pop)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" y="405079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Dicionario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6360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dos modulos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0017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O(1) pelo nome do modulo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379476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07992" y="405079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450799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2064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26280" y="46360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da missao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26280" y="50017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 de dicts: vida, energia, comunic., habitat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55280" y="3794760"/>
            <a:ext cx="347472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11312" y="405079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8211312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823960" y="4069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29600" y="4636008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Leituras ciclo x variavel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229600" y="500176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tabular (lista de listas)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ARES-1 HMS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Previsao da reserva de energia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movel + regressao linear, em Python puro (sem NumPy/Pandas).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00200"/>
            <a:ext cx="4069080" cy="4480560"/>
          </a:xfrm>
          <a:prstGeom prst="roundRect">
            <a:avLst>
              <a:gd name="adj" fmla="val 2247"/>
            </a:avLst>
          </a:prstGeom>
          <a:solidFill>
            <a:srgbClr val="1229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1812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7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18120" y="2240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 = 87,5 - 12,5 x ciclo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8120" y="27432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7  ≈  0,1 %
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8-9: negativo
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esgotamento iminente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818120" y="4343400"/>
            <a:ext cx="3520440" cy="0"/>
          </a:xfrm>
          <a:prstGeom prst="line">
            <a:avLst/>
          </a:prstGeom>
          <a:noFill/>
          <a:ln w="12700">
            <a:solidFill>
              <a:srgbClr val="23467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452628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previsao ELEVA o estado para CRITICO e dispara a recomendacao de racionar consumo. O forecast influencia a decisao real.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ARES-1 HMS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Diagnostico e recomendacoes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E5484D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DA MISSAO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CRITICO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943600" y="1234440"/>
            <a:ext cx="5669280" cy="11430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72200" y="13533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7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EXPRESSAO BOOLEANA PRINCIPAL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72200" y="162763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CRITICO = (suporte_vida==0) OR (energia==0)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(reserva&lt;20 AND comunic==0)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(radiacao&gt;8.0 AND reserva&lt;30)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Recomendacoes priorizadas (rastreaveis a um alerta, regra ou previsao):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236976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E5484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369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3063240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Manter suporte a vida e comunicacao de emergencia ativos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90448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078224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782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904488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Desligar laboratorio e sistemas nao essenciais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745736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919472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9194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4745736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Redirecionar energia para habitat e carga de baterias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586984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576072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E5484D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760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94560" y="5586984"/>
            <a:ext cx="9144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Racionar consumo agora — previsao indica esgotamento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ARES-1 HMS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2926080"/>
            <a:ext cx="7315200" cy="7315200"/>
          </a:xfrm>
          <a:prstGeom prst="ellipse">
            <a:avLst/>
          </a:prstGeom>
          <a:ln w="19050">
            <a:solidFill>
              <a:srgbClr val="1C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5029200"/>
            <a:ext cx="365760" cy="365760"/>
          </a:xfrm>
          <a:prstGeom prst="ellipse">
            <a:avLst/>
          </a:prstGeom>
          <a:solidFill>
            <a:srgbClr val="37C8E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resumo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bem aplicadas e justificadas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logicas claras com AND / OR / NOT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Previsao simples que influencia a decisao real do sistema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Python puro, sem bibliotecas externas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12294D"/>
          </a:solidFill>
          <a:ln w="12700">
            <a:solidFill>
              <a:srgbClr val="37C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Codigo, dados e relatorio completo no repositorio:
</a:t>
            </a: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7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github.com/FIAP-404/atv-global-solution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080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A6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  —  GRUPO 404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ARES-1 HMS - Global Solution 2026</dc:title>
  <dc:subject>PptxGenJS Presentation</dc:subject>
  <dc:creator>GRUPO 404</dc:creator>
  <cp:lastModifiedBy>GRUPO 404</cp:lastModifiedBy>
  <cp:revision>1</cp:revision>
  <dcterms:created xsi:type="dcterms:W3CDTF">2026-06-06T20:13:14Z</dcterms:created>
  <dcterms:modified xsi:type="dcterms:W3CDTF">2026-06-06T20:13:14Z</dcterms:modified>
</cp:coreProperties>
</file>